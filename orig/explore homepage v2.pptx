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58E3D69-DC5B-8EB8-322C-0CE4A17DF499}" name="Brolly, Maire" initials="MB" userId="S::Maire.Brolly@nisra.gov.uk::aa13bb95-ee29-410d-8fed-10d04454f514" providerId="AD"/>
  <p188:author id="{2C1551A1-874A-029F-D227-A93DD081E2D7}" name="Scott, Judith" initials="JS" userId="S::Judith.Scott@nisra.gov.uk::baee0abf-f355-4876-89b2-265e137bac54" providerId="AD"/>
  <p188:author id="{E2B74BAA-FBCA-6744-389C-B5DA730AED4B}" name="Máire Brolly" initials="MB" userId="Máire Brolly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5B"/>
    <a:srgbClr val="E2E2E4"/>
    <a:srgbClr val="732777"/>
    <a:srgbClr val="3878C5"/>
    <a:srgbClr val="F2F5F8"/>
    <a:srgbClr val="F5F5F6"/>
    <a:srgbClr val="F4F4F5"/>
    <a:srgbClr val="EDEDEE"/>
    <a:srgbClr val="F5F5F5"/>
    <a:srgbClr val="68A4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127" autoAdjust="0"/>
    <p:restoredTop sz="94660"/>
  </p:normalViewPr>
  <p:slideViewPr>
    <p:cSldViewPr snapToGrid="0">
      <p:cViewPr>
        <p:scale>
          <a:sx n="125" d="100"/>
          <a:sy n="125" d="100"/>
        </p:scale>
        <p:origin x="1932" y="-1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B91C2-BF9A-4731-A686-F1E0ECA418C6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07BBC-949B-428B-97B0-2E0C75BEC8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9777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B91C2-BF9A-4731-A686-F1E0ECA418C6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07BBC-949B-428B-97B0-2E0C75BEC8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0333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B91C2-BF9A-4731-A686-F1E0ECA418C6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07BBC-949B-428B-97B0-2E0C75BEC8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095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B91C2-BF9A-4731-A686-F1E0ECA418C6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07BBC-949B-428B-97B0-2E0C75BEC8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9583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B91C2-BF9A-4731-A686-F1E0ECA418C6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07BBC-949B-428B-97B0-2E0C75BEC8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1665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B91C2-BF9A-4731-A686-F1E0ECA418C6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07BBC-949B-428B-97B0-2E0C75BEC8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1379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B91C2-BF9A-4731-A686-F1E0ECA418C6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07BBC-949B-428B-97B0-2E0C75BEC8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8305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B91C2-BF9A-4731-A686-F1E0ECA418C6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07BBC-949B-428B-97B0-2E0C75BEC8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4834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B91C2-BF9A-4731-A686-F1E0ECA418C6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07BBC-949B-428B-97B0-2E0C75BEC8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8525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B91C2-BF9A-4731-A686-F1E0ECA418C6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07BBC-949B-428B-97B0-2E0C75BEC8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1126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B91C2-BF9A-4731-A686-F1E0ECA418C6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07BBC-949B-428B-97B0-2E0C75BEC8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4726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7B91C2-BF9A-4731-A686-F1E0ECA418C6}" type="datetimeFigureOut">
              <a:rPr lang="en-GB" smtClean="0"/>
              <a:t>07/08/2026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C07BBC-949B-428B-97B0-2E0C75BEC8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3078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7F11C3C-9FC5-1571-F097-E068B9A61B2A}"/>
              </a:ext>
            </a:extLst>
          </p:cNvPr>
          <p:cNvSpPr/>
          <p:nvPr/>
        </p:nvSpPr>
        <p:spPr>
          <a:xfrm>
            <a:off x="-30623" y="1989404"/>
            <a:ext cx="6888623" cy="9785120"/>
          </a:xfrm>
          <a:prstGeom prst="rect">
            <a:avLst/>
          </a:prstGeom>
          <a:solidFill>
            <a:srgbClr val="F2F5F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4D2F57-EC58-ADD7-BAF4-9EB41F427B5A}"/>
              </a:ext>
            </a:extLst>
          </p:cNvPr>
          <p:cNvSpPr/>
          <p:nvPr/>
        </p:nvSpPr>
        <p:spPr>
          <a:xfrm>
            <a:off x="0" y="714914"/>
            <a:ext cx="6858000" cy="672315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/>
              <a:t>NISRA explorer</a:t>
            </a:r>
          </a:p>
          <a:p>
            <a:r>
              <a:rPr lang="en-US" sz="1200" dirty="0"/>
              <a:t>Find and extract the data you need using our tools and visual resources</a:t>
            </a:r>
            <a:endParaRPr lang="en-GB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AA3B0FA-66A2-254D-9827-AAFEEBAD1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4688"/>
            <a:ext cx="3429000" cy="654977"/>
          </a:xfrm>
          <a:prstGeom prst="rect">
            <a:avLst/>
          </a:prstGeom>
        </p:spPr>
      </p:pic>
      <p:pic>
        <p:nvPicPr>
          <p:cNvPr id="33" name="Graphic 32" descr="Marker with solid fill">
            <a:extLst>
              <a:ext uri="{FF2B5EF4-FFF2-40B4-BE49-F238E27FC236}">
                <a16:creationId xmlns:a16="http://schemas.microsoft.com/office/drawing/2014/main" id="{5066E7E5-7841-AACF-E940-6BB74145DF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637" y="1528271"/>
            <a:ext cx="257570" cy="25757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3688AB19-2019-685B-9CDA-AC8ACF11975D}"/>
              </a:ext>
            </a:extLst>
          </p:cNvPr>
          <p:cNvSpPr txBox="1"/>
          <p:nvPr/>
        </p:nvSpPr>
        <p:spPr>
          <a:xfrm>
            <a:off x="270840" y="1481314"/>
            <a:ext cx="1042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Geographic data tools and maps</a:t>
            </a:r>
          </a:p>
        </p:txBody>
      </p:sp>
      <p:pic>
        <p:nvPicPr>
          <p:cNvPr id="39" name="Picture 3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91E9587-32B7-BBE3-0CBF-48931AF732B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631" y="1530923"/>
            <a:ext cx="241636" cy="241636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C8E3E887-A0B5-C6BF-4893-C72D058269B4}"/>
              </a:ext>
            </a:extLst>
          </p:cNvPr>
          <p:cNvSpPr txBox="1"/>
          <p:nvPr/>
        </p:nvSpPr>
        <p:spPr>
          <a:xfrm>
            <a:off x="5682125" y="1505144"/>
            <a:ext cx="8372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Accessible</a:t>
            </a:r>
            <a:endParaRPr lang="en-GB" sz="9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E01F3448-F257-BA7B-73F0-A37AF7817B51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7886" y="1546311"/>
            <a:ext cx="225844" cy="225844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17C5D55-69C8-ECE2-B1C4-038CC3C27351}"/>
              </a:ext>
            </a:extLst>
          </p:cNvPr>
          <p:cNvSpPr txBox="1"/>
          <p:nvPr/>
        </p:nvSpPr>
        <p:spPr>
          <a:xfrm>
            <a:off x="4778902" y="1500012"/>
            <a:ext cx="591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Mobile</a:t>
            </a:r>
          </a:p>
          <a:p>
            <a:r>
              <a:rPr lang="en-US" sz="900" dirty="0"/>
              <a:t>friendly</a:t>
            </a:r>
            <a:endParaRPr lang="en-GB" sz="900" dirty="0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EA3F3ABD-B354-21AB-B575-1DA296D3017A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3514" y="1579141"/>
            <a:ext cx="175969" cy="175969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DC2C0ED6-3B0D-5FEF-152C-E19BA5563393}"/>
              </a:ext>
            </a:extLst>
          </p:cNvPr>
          <p:cNvSpPr txBox="1"/>
          <p:nvPr/>
        </p:nvSpPr>
        <p:spPr>
          <a:xfrm>
            <a:off x="3669038" y="1484031"/>
            <a:ext cx="853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Database or lookup tools</a:t>
            </a:r>
            <a:endParaRPr lang="en-GB" sz="900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C09012F-00F6-4511-3959-7D8559981B7A}"/>
              </a:ext>
            </a:extLst>
          </p:cNvPr>
          <p:cNvGrpSpPr/>
          <p:nvPr/>
        </p:nvGrpSpPr>
        <p:grpSpPr>
          <a:xfrm>
            <a:off x="339181" y="2600525"/>
            <a:ext cx="1436928" cy="1799844"/>
            <a:chOff x="250281" y="2530675"/>
            <a:chExt cx="1436928" cy="1799844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07A2E6A-92D9-179E-14A4-7CEED3F1C467}"/>
                </a:ext>
              </a:extLst>
            </p:cNvPr>
            <p:cNvSpPr/>
            <p:nvPr/>
          </p:nvSpPr>
          <p:spPr>
            <a:xfrm>
              <a:off x="280380" y="2530675"/>
              <a:ext cx="1406829" cy="17998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sz="800" dirty="0">
                  <a:solidFill>
                    <a:schemeClr val="bg2">
                      <a:lumMod val="25000"/>
                    </a:schemeClr>
                  </a:solidFill>
                </a:rPr>
                <a:t>Find data on population, housing, health, education and more for your area</a:t>
              </a:r>
            </a:p>
            <a:p>
              <a:pPr algn="ctr"/>
              <a:endParaRPr lang="en-US" sz="800" dirty="0">
                <a:solidFill>
                  <a:schemeClr val="bg2">
                    <a:lumMod val="25000"/>
                  </a:schemeClr>
                </a:solidFill>
              </a:endParaRPr>
            </a:p>
            <a:p>
              <a:pPr algn="ctr"/>
              <a:endParaRPr lang="en-GB" sz="800" dirty="0">
                <a:solidFill>
                  <a:schemeClr val="tx1"/>
                </a:solidFill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23561836-E408-D51B-E0AC-BC87E302827E}"/>
                </a:ext>
              </a:extLst>
            </p:cNvPr>
            <p:cNvSpPr/>
            <p:nvPr/>
          </p:nvSpPr>
          <p:spPr>
            <a:xfrm>
              <a:off x="393026" y="2580994"/>
              <a:ext cx="1290748" cy="3250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rgbClr val="00205B"/>
                  </a:solidFill>
                </a:rPr>
                <a:t>Northern Ireland local statistics explorer</a:t>
              </a:r>
              <a:endParaRPr lang="en-GB" sz="900" dirty="0">
                <a:solidFill>
                  <a:srgbClr val="00205B"/>
                </a:solidFill>
              </a:endParaRPr>
            </a:p>
          </p:txBody>
        </p:sp>
        <p:pic>
          <p:nvPicPr>
            <p:cNvPr id="75" name="Graphic 74" descr="Marker with solid fill">
              <a:extLst>
                <a:ext uri="{FF2B5EF4-FFF2-40B4-BE49-F238E27FC236}">
                  <a16:creationId xmlns:a16="http://schemas.microsoft.com/office/drawing/2014/main" id="{A1CFC931-5E49-E218-BCA1-16CBEDD5BBD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50281" y="2567840"/>
              <a:ext cx="288034" cy="288034"/>
            </a:xfrm>
            <a:prstGeom prst="rect">
              <a:avLst/>
            </a:prstGeom>
          </p:spPr>
        </p:pic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BDACB49C-7195-0273-B7D4-CCDCD51FE02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4057" y="4133856"/>
              <a:ext cx="159162" cy="159162"/>
            </a:xfrm>
            <a:prstGeom prst="rect">
              <a:avLst/>
            </a:prstGeom>
          </p:spPr>
        </p:pic>
        <p:pic>
          <p:nvPicPr>
            <p:cNvPr id="77" name="Picture 76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258A1A84-DDC1-6F9D-64F5-706526A899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3581" y="4154136"/>
              <a:ext cx="142283" cy="142283"/>
            </a:xfrm>
            <a:prstGeom prst="rect">
              <a:avLst/>
            </a:prstGeom>
          </p:spPr>
        </p:pic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632CFDE4-1776-159D-283A-8146D863A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22083" r="8037"/>
            <a:stretch>
              <a:fillRect/>
            </a:stretch>
          </p:blipFill>
          <p:spPr>
            <a:xfrm>
              <a:off x="634413" y="2925053"/>
              <a:ext cx="739449" cy="546773"/>
            </a:xfrm>
            <a:prstGeom prst="rect">
              <a:avLst/>
            </a:prstGeom>
          </p:spPr>
        </p:pic>
        <p:sp>
          <p:nvSpPr>
            <p:cNvPr id="81" name="Arrow: Pentagon 80">
              <a:extLst>
                <a:ext uri="{FF2B5EF4-FFF2-40B4-BE49-F238E27FC236}">
                  <a16:creationId xmlns:a16="http://schemas.microsoft.com/office/drawing/2014/main" id="{BD2DE565-EE8B-6E43-9E7F-2C063A35E4BA}"/>
                </a:ext>
              </a:extLst>
            </p:cNvPr>
            <p:cNvSpPr/>
            <p:nvPr/>
          </p:nvSpPr>
          <p:spPr>
            <a:xfrm>
              <a:off x="1050087" y="4146670"/>
              <a:ext cx="419100" cy="151051"/>
            </a:xfrm>
            <a:prstGeom prst="homePlate">
              <a:avLst/>
            </a:prstGeom>
            <a:solidFill>
              <a:srgbClr val="73277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Go</a:t>
              </a:r>
              <a:endParaRPr lang="en-GB" sz="800" dirty="0"/>
            </a:p>
          </p:txBody>
        </p:sp>
      </p:grpSp>
      <p:pic>
        <p:nvPicPr>
          <p:cNvPr id="96" name="Picture 95">
            <a:extLst>
              <a:ext uri="{FF2B5EF4-FFF2-40B4-BE49-F238E27FC236}">
                <a16:creationId xmlns:a16="http://schemas.microsoft.com/office/drawing/2014/main" id="{721A4ECB-EBF0-215F-84D8-A40002A9D44E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4580" y="1559800"/>
            <a:ext cx="218381" cy="218381"/>
          </a:xfrm>
          <a:prstGeom prst="rect">
            <a:avLst/>
          </a:prstGeom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5D4A2210-74ED-C6A4-E411-FEAB6F1D7093}"/>
              </a:ext>
            </a:extLst>
          </p:cNvPr>
          <p:cNvSpPr txBox="1"/>
          <p:nvPr/>
        </p:nvSpPr>
        <p:spPr>
          <a:xfrm>
            <a:off x="2641039" y="1494604"/>
            <a:ext cx="853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Equality and deprivation</a:t>
            </a:r>
            <a:endParaRPr lang="en-GB" sz="9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35686E-A270-74D4-0ACC-3515E046A053}"/>
              </a:ext>
            </a:extLst>
          </p:cNvPr>
          <p:cNvSpPr/>
          <p:nvPr/>
        </p:nvSpPr>
        <p:spPr>
          <a:xfrm>
            <a:off x="0" y="1387229"/>
            <a:ext cx="6858000" cy="108645"/>
          </a:xfrm>
          <a:prstGeom prst="rect">
            <a:avLst/>
          </a:prstGeom>
          <a:solidFill>
            <a:srgbClr val="68A4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B1ADF8-65C7-3CE3-AEC4-C8491AF15754}"/>
              </a:ext>
            </a:extLst>
          </p:cNvPr>
          <p:cNvSpPr txBox="1"/>
          <p:nvPr/>
        </p:nvSpPr>
        <p:spPr>
          <a:xfrm>
            <a:off x="1651440" y="1508257"/>
            <a:ext cx="670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Policy </a:t>
            </a:r>
            <a:br>
              <a:rPr lang="en-US" sz="900" dirty="0"/>
            </a:br>
            <a:r>
              <a:rPr lang="en-US" sz="900" dirty="0"/>
              <a:t>specific</a:t>
            </a:r>
            <a:endParaRPr lang="en-GB" sz="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99DF4F7-C649-5B34-7D80-6158F53CF7F5}"/>
              </a:ext>
            </a:extLst>
          </p:cNvPr>
          <p:cNvCxnSpPr>
            <a:cxnSpLocks/>
          </p:cNvCxnSpPr>
          <p:nvPr/>
        </p:nvCxnSpPr>
        <p:spPr>
          <a:xfrm>
            <a:off x="-30623" y="1968500"/>
            <a:ext cx="6888622" cy="6888"/>
          </a:xfrm>
          <a:prstGeom prst="line">
            <a:avLst/>
          </a:prstGeom>
          <a:ln>
            <a:solidFill>
              <a:srgbClr val="387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98953A9-189A-3232-4E1F-8BAAF9F7EA32}"/>
              </a:ext>
            </a:extLst>
          </p:cNvPr>
          <p:cNvGrpSpPr/>
          <p:nvPr/>
        </p:nvGrpSpPr>
        <p:grpSpPr>
          <a:xfrm>
            <a:off x="5033063" y="2599559"/>
            <a:ext cx="1380256" cy="1821333"/>
            <a:chOff x="4944163" y="2529709"/>
            <a:chExt cx="1380256" cy="1821333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6643EA4-25EF-1CC9-CEE9-53FC648F11BA}"/>
                </a:ext>
              </a:extLst>
            </p:cNvPr>
            <p:cNvSpPr/>
            <p:nvPr/>
          </p:nvSpPr>
          <p:spPr>
            <a:xfrm>
              <a:off x="4944163" y="2529709"/>
              <a:ext cx="1380256" cy="18213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sz="800" dirty="0">
                  <a:solidFill>
                    <a:schemeClr val="bg2">
                      <a:lumMod val="25000"/>
                    </a:schemeClr>
                  </a:solidFill>
                </a:rPr>
                <a:t>Download and view maps, charts and tables of NISRA data </a:t>
              </a:r>
            </a:p>
            <a:p>
              <a:pPr algn="ctr"/>
              <a:endParaRPr lang="en-US" sz="800" dirty="0">
                <a:solidFill>
                  <a:schemeClr val="tx1"/>
                </a:solidFill>
              </a:endParaRPr>
            </a:p>
            <a:p>
              <a:pPr algn="ctr"/>
              <a:endParaRPr lang="en-GB" sz="800" dirty="0">
                <a:solidFill>
                  <a:schemeClr val="tx1"/>
                </a:solidFill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91BFA7FE-6016-0676-3D91-650248D85E1F}"/>
                </a:ext>
              </a:extLst>
            </p:cNvPr>
            <p:cNvSpPr/>
            <p:nvPr/>
          </p:nvSpPr>
          <p:spPr>
            <a:xfrm>
              <a:off x="5195456" y="2548533"/>
              <a:ext cx="982356" cy="3071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rgbClr val="002060"/>
                  </a:solidFill>
                </a:rPr>
                <a:t>Data explorer</a:t>
              </a:r>
              <a:endParaRPr lang="en-GB" sz="900" dirty="0">
                <a:solidFill>
                  <a:srgbClr val="002060"/>
                </a:solidFill>
              </a:endParaRPr>
            </a:p>
          </p:txBody>
        </p:sp>
        <p:pic>
          <p:nvPicPr>
            <p:cNvPr id="101" name="Picture 100">
              <a:extLst>
                <a:ext uri="{FF2B5EF4-FFF2-40B4-BE49-F238E27FC236}">
                  <a16:creationId xmlns:a16="http://schemas.microsoft.com/office/drawing/2014/main" id="{340C6474-4DD4-F29B-4D3F-CC9F383691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01792" y="2614999"/>
              <a:ext cx="199085" cy="199085"/>
            </a:xfrm>
            <a:prstGeom prst="rect">
              <a:avLst/>
            </a:prstGeom>
          </p:spPr>
        </p:pic>
        <p:pic>
          <p:nvPicPr>
            <p:cNvPr id="129" name="Picture 128">
              <a:extLst>
                <a:ext uri="{FF2B5EF4-FFF2-40B4-BE49-F238E27FC236}">
                  <a16:creationId xmlns:a16="http://schemas.microsoft.com/office/drawing/2014/main" id="{8A5F2163-344E-F742-C21D-6D2488381A1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110713" y="2972180"/>
              <a:ext cx="986998" cy="569650"/>
            </a:xfrm>
            <a:prstGeom prst="rect">
              <a:avLst/>
            </a:prstGeom>
          </p:spPr>
        </p:pic>
        <p:sp>
          <p:nvSpPr>
            <p:cNvPr id="8" name="Arrow: Pentagon 7">
              <a:extLst>
                <a:ext uri="{FF2B5EF4-FFF2-40B4-BE49-F238E27FC236}">
                  <a16:creationId xmlns:a16="http://schemas.microsoft.com/office/drawing/2014/main" id="{607985CF-E4CD-A863-834D-5AB69A463004}"/>
                </a:ext>
              </a:extLst>
            </p:cNvPr>
            <p:cNvSpPr/>
            <p:nvPr/>
          </p:nvSpPr>
          <p:spPr>
            <a:xfrm>
              <a:off x="5851657" y="4139573"/>
              <a:ext cx="419100" cy="151051"/>
            </a:xfrm>
            <a:prstGeom prst="homePlate">
              <a:avLst/>
            </a:prstGeom>
            <a:solidFill>
              <a:srgbClr val="73277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Go</a:t>
              </a:r>
              <a:endParaRPr lang="en-GB" sz="800" dirty="0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092B832-1F89-AC7A-53F5-72B20D94891D}"/>
              </a:ext>
            </a:extLst>
          </p:cNvPr>
          <p:cNvGrpSpPr/>
          <p:nvPr/>
        </p:nvGrpSpPr>
        <p:grpSpPr>
          <a:xfrm>
            <a:off x="5019065" y="4599148"/>
            <a:ext cx="1394254" cy="1807545"/>
            <a:chOff x="4930165" y="4529298"/>
            <a:chExt cx="1394254" cy="1807545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73F6322E-3E01-305C-FC96-CF5353C36491}"/>
                </a:ext>
              </a:extLst>
            </p:cNvPr>
            <p:cNvSpPr/>
            <p:nvPr/>
          </p:nvSpPr>
          <p:spPr>
            <a:xfrm>
              <a:off x="4930165" y="4529298"/>
              <a:ext cx="1394254" cy="18075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sz="800" dirty="0">
                  <a:solidFill>
                    <a:schemeClr val="bg2">
                      <a:lumMod val="25000"/>
                    </a:schemeClr>
                  </a:solidFill>
                </a:rPr>
                <a:t>Download and view maps, charts and tables of NISRA data </a:t>
              </a:r>
            </a:p>
            <a:p>
              <a:pPr algn="ctr"/>
              <a:endParaRPr lang="en-US" sz="800" dirty="0">
                <a:solidFill>
                  <a:schemeClr val="tx1"/>
                </a:solidFill>
              </a:endParaRPr>
            </a:p>
            <a:p>
              <a:pPr algn="ctr"/>
              <a:endParaRPr lang="en-GB" sz="800" dirty="0">
                <a:solidFill>
                  <a:schemeClr val="tx1"/>
                </a:solidFill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8E5D0E1D-1B22-1DE7-0C21-A1206E8F60A7}"/>
                </a:ext>
              </a:extLst>
            </p:cNvPr>
            <p:cNvSpPr/>
            <p:nvPr/>
          </p:nvSpPr>
          <p:spPr>
            <a:xfrm>
              <a:off x="5072679" y="4559420"/>
              <a:ext cx="1168666" cy="3065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rgbClr val="00205B"/>
                  </a:solidFill>
                </a:rPr>
                <a:t>Census flexible table builder</a:t>
              </a:r>
              <a:endParaRPr lang="en-GB" sz="900" dirty="0">
                <a:solidFill>
                  <a:srgbClr val="00205B"/>
                </a:solidFill>
              </a:endParaRPr>
            </a:p>
          </p:txBody>
        </p:sp>
        <p:pic>
          <p:nvPicPr>
            <p:cNvPr id="125" name="Picture 124">
              <a:extLst>
                <a:ext uri="{FF2B5EF4-FFF2-40B4-BE49-F238E27FC236}">
                  <a16:creationId xmlns:a16="http://schemas.microsoft.com/office/drawing/2014/main" id="{90BC231D-34FB-4B2F-A710-CD9FFC35B2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01792" y="4596186"/>
              <a:ext cx="179014" cy="179014"/>
            </a:xfrm>
            <a:prstGeom prst="rect">
              <a:avLst/>
            </a:prstGeom>
          </p:spPr>
        </p:pic>
        <p:pic>
          <p:nvPicPr>
            <p:cNvPr id="127" name="Picture 126">
              <a:extLst>
                <a:ext uri="{FF2B5EF4-FFF2-40B4-BE49-F238E27FC236}">
                  <a16:creationId xmlns:a16="http://schemas.microsoft.com/office/drawing/2014/main" id="{49DAB3FD-C7A7-2654-1217-C56D6C0E6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195456" y="4939167"/>
              <a:ext cx="885375" cy="602357"/>
            </a:xfrm>
            <a:prstGeom prst="rect">
              <a:avLst/>
            </a:prstGeom>
          </p:spPr>
        </p:pic>
        <p:sp>
          <p:nvSpPr>
            <p:cNvPr id="13" name="Arrow: Pentagon 12">
              <a:extLst>
                <a:ext uri="{FF2B5EF4-FFF2-40B4-BE49-F238E27FC236}">
                  <a16:creationId xmlns:a16="http://schemas.microsoft.com/office/drawing/2014/main" id="{A338F2FD-3026-D024-1FDB-5F84896F9200}"/>
                </a:ext>
              </a:extLst>
            </p:cNvPr>
            <p:cNvSpPr/>
            <p:nvPr/>
          </p:nvSpPr>
          <p:spPr>
            <a:xfrm>
              <a:off x="5822244" y="6126697"/>
              <a:ext cx="419100" cy="151051"/>
            </a:xfrm>
            <a:prstGeom prst="homePlate">
              <a:avLst/>
            </a:prstGeom>
            <a:solidFill>
              <a:srgbClr val="73277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Go</a:t>
              </a:r>
              <a:endParaRPr lang="en-GB" sz="800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0B278B4-426C-6562-C88E-75B1C74DF98D}"/>
              </a:ext>
            </a:extLst>
          </p:cNvPr>
          <p:cNvGrpSpPr/>
          <p:nvPr/>
        </p:nvGrpSpPr>
        <p:grpSpPr>
          <a:xfrm>
            <a:off x="3494379" y="4598706"/>
            <a:ext cx="1422281" cy="1793638"/>
            <a:chOff x="3384011" y="4529298"/>
            <a:chExt cx="1422281" cy="1793638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A52B0825-17BA-90A9-882C-99FA063931E1}"/>
                </a:ext>
              </a:extLst>
            </p:cNvPr>
            <p:cNvSpPr/>
            <p:nvPr/>
          </p:nvSpPr>
          <p:spPr>
            <a:xfrm>
              <a:off x="3384011" y="4529298"/>
              <a:ext cx="1422281" cy="1793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sz="800" dirty="0">
                  <a:solidFill>
                    <a:schemeClr val="bg2">
                      <a:lumMod val="25000"/>
                    </a:schemeClr>
                  </a:solidFill>
                </a:rPr>
                <a:t>Find out about deprivation in any local </a:t>
              </a:r>
              <a:r>
                <a:rPr lang="en-US" sz="800" dirty="0" err="1">
                  <a:solidFill>
                    <a:schemeClr val="bg2">
                      <a:lumMod val="25000"/>
                    </a:schemeClr>
                  </a:solidFill>
                </a:rPr>
                <a:t>neighbourhood</a:t>
              </a:r>
              <a:r>
                <a:rPr lang="en-US" sz="800" dirty="0">
                  <a:solidFill>
                    <a:schemeClr val="bg2">
                      <a:lumMod val="25000"/>
                    </a:schemeClr>
                  </a:solidFill>
                </a:rPr>
                <a:t> or council</a:t>
              </a:r>
            </a:p>
            <a:p>
              <a:pPr algn="ctr"/>
              <a:endParaRPr lang="en-US" sz="800" dirty="0">
                <a:solidFill>
                  <a:schemeClr val="tx1"/>
                </a:solidFill>
              </a:endParaRPr>
            </a:p>
            <a:p>
              <a:pPr algn="ctr"/>
              <a:endParaRPr lang="en-GB" sz="800" dirty="0">
                <a:solidFill>
                  <a:schemeClr val="tx1"/>
                </a:solidFill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7AE02C0E-198B-0758-2B52-FBE3FD9C7CED}"/>
                </a:ext>
              </a:extLst>
            </p:cNvPr>
            <p:cNvSpPr/>
            <p:nvPr/>
          </p:nvSpPr>
          <p:spPr>
            <a:xfrm>
              <a:off x="3492421" y="4552136"/>
              <a:ext cx="1295399" cy="3196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rgbClr val="00205B"/>
                  </a:solidFill>
                </a:rPr>
                <a:t>Deprivation in </a:t>
              </a:r>
              <a:br>
                <a:rPr lang="en-US" sz="900" dirty="0">
                  <a:solidFill>
                    <a:srgbClr val="00205B"/>
                  </a:solidFill>
                </a:rPr>
              </a:br>
              <a:r>
                <a:rPr lang="en-US" sz="900" dirty="0">
                  <a:solidFill>
                    <a:srgbClr val="00205B"/>
                  </a:solidFill>
                </a:rPr>
                <a:t>Northern Ireland</a:t>
              </a:r>
              <a:endParaRPr lang="en-GB" sz="900" dirty="0">
                <a:solidFill>
                  <a:srgbClr val="00205B"/>
                </a:solidFill>
              </a:endParaRPr>
            </a:p>
          </p:txBody>
        </p:sp>
        <p:pic>
          <p:nvPicPr>
            <p:cNvPr id="119" name="Picture 118">
              <a:extLst>
                <a:ext uri="{FF2B5EF4-FFF2-40B4-BE49-F238E27FC236}">
                  <a16:creationId xmlns:a16="http://schemas.microsoft.com/office/drawing/2014/main" id="{C71EDED3-CB48-C818-9E0F-5D006C0E0E4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8992" y="4574791"/>
              <a:ext cx="239004" cy="239004"/>
            </a:xfrm>
            <a:prstGeom prst="rect">
              <a:avLst/>
            </a:prstGeom>
          </p:spPr>
        </p:pic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AD17B33C-1DF2-B099-DA40-2F461D9722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4177" b="7756"/>
            <a:stretch>
              <a:fillRect/>
            </a:stretch>
          </p:blipFill>
          <p:spPr>
            <a:xfrm>
              <a:off x="3532726" y="4955732"/>
              <a:ext cx="1111682" cy="552847"/>
            </a:xfrm>
            <a:prstGeom prst="rect">
              <a:avLst/>
            </a:prstGeom>
          </p:spPr>
        </p:pic>
        <p:sp>
          <p:nvSpPr>
            <p:cNvPr id="17" name="Arrow: Pentagon 16">
              <a:extLst>
                <a:ext uri="{FF2B5EF4-FFF2-40B4-BE49-F238E27FC236}">
                  <a16:creationId xmlns:a16="http://schemas.microsoft.com/office/drawing/2014/main" id="{1A75228A-8C85-335A-C89A-84F4715BC042}"/>
                </a:ext>
              </a:extLst>
            </p:cNvPr>
            <p:cNvSpPr/>
            <p:nvPr/>
          </p:nvSpPr>
          <p:spPr>
            <a:xfrm>
              <a:off x="4289600" y="6147322"/>
              <a:ext cx="419100" cy="151051"/>
            </a:xfrm>
            <a:prstGeom prst="homePlate">
              <a:avLst/>
            </a:prstGeom>
            <a:solidFill>
              <a:srgbClr val="73277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Go</a:t>
              </a:r>
              <a:endParaRPr lang="en-GB" sz="800" dirty="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D89214F-C541-FE7A-C26C-FAAEABE113BD}"/>
              </a:ext>
            </a:extLst>
          </p:cNvPr>
          <p:cNvGrpSpPr/>
          <p:nvPr/>
        </p:nvGrpSpPr>
        <p:grpSpPr>
          <a:xfrm>
            <a:off x="1946731" y="4594525"/>
            <a:ext cx="1389884" cy="1812169"/>
            <a:chOff x="1857831" y="4524675"/>
            <a:chExt cx="1389884" cy="1812169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3205D61E-5C62-5F39-654E-165BDFCB01B4}"/>
                </a:ext>
              </a:extLst>
            </p:cNvPr>
            <p:cNvSpPr/>
            <p:nvPr/>
          </p:nvSpPr>
          <p:spPr>
            <a:xfrm>
              <a:off x="1857831" y="4524675"/>
              <a:ext cx="1389884" cy="18121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sz="800" dirty="0">
                  <a:solidFill>
                    <a:schemeClr val="bg2">
                      <a:lumMod val="25000"/>
                    </a:schemeClr>
                  </a:solidFill>
                </a:rPr>
                <a:t>View indicators relating to themes under making life better strategy for Health Trusts</a:t>
              </a:r>
              <a:endParaRPr lang="en-US" sz="800" dirty="0">
                <a:solidFill>
                  <a:schemeClr val="tx1"/>
                </a:solidFill>
              </a:endParaRPr>
            </a:p>
            <a:p>
              <a:pPr algn="ctr"/>
              <a:endParaRPr lang="en-GB" sz="800" dirty="0">
                <a:solidFill>
                  <a:schemeClr val="tx1"/>
                </a:solidFill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5AED162A-C83F-A7B0-D041-36B08FBCC580}"/>
                </a:ext>
              </a:extLst>
            </p:cNvPr>
            <p:cNvSpPr/>
            <p:nvPr/>
          </p:nvSpPr>
          <p:spPr>
            <a:xfrm>
              <a:off x="2012214" y="4572653"/>
              <a:ext cx="1235501" cy="3069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rgbClr val="002060"/>
                  </a:solidFill>
                </a:rPr>
                <a:t>Public Health Agency</a:t>
              </a:r>
            </a:p>
            <a:p>
              <a:pPr algn="ctr"/>
              <a:r>
                <a:rPr lang="en-US" sz="900" dirty="0">
                  <a:solidFill>
                    <a:srgbClr val="002060"/>
                  </a:solidFill>
                </a:rPr>
                <a:t>Making life better </a:t>
              </a:r>
              <a:endParaRPr lang="en-GB" sz="900" dirty="0">
                <a:solidFill>
                  <a:srgbClr val="002060"/>
                </a:solidFill>
              </a:endParaRPr>
            </a:p>
          </p:txBody>
        </p:sp>
        <p:pic>
          <p:nvPicPr>
            <p:cNvPr id="111" name="Picture 110">
              <a:extLst>
                <a:ext uri="{FF2B5EF4-FFF2-40B4-BE49-F238E27FC236}">
                  <a16:creationId xmlns:a16="http://schemas.microsoft.com/office/drawing/2014/main" id="{E1A3E880-EA12-76FA-34DB-73FFC76C01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3112" y="4580669"/>
              <a:ext cx="244282" cy="244282"/>
            </a:xfrm>
            <a:prstGeom prst="rect">
              <a:avLst/>
            </a:prstGeom>
          </p:spPr>
        </p:pic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29CD9630-9568-1586-3982-12299F9282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041072" y="5002860"/>
              <a:ext cx="1007927" cy="497716"/>
            </a:xfrm>
            <a:prstGeom prst="rect">
              <a:avLst/>
            </a:prstGeom>
          </p:spPr>
        </p:pic>
        <p:sp>
          <p:nvSpPr>
            <p:cNvPr id="18" name="Arrow: Pentagon 17">
              <a:extLst>
                <a:ext uri="{FF2B5EF4-FFF2-40B4-BE49-F238E27FC236}">
                  <a16:creationId xmlns:a16="http://schemas.microsoft.com/office/drawing/2014/main" id="{428F60B7-83E2-505F-3BE1-16431214753D}"/>
                </a:ext>
              </a:extLst>
            </p:cNvPr>
            <p:cNvSpPr/>
            <p:nvPr/>
          </p:nvSpPr>
          <p:spPr>
            <a:xfrm>
              <a:off x="2751146" y="6154116"/>
              <a:ext cx="419100" cy="151051"/>
            </a:xfrm>
            <a:prstGeom prst="homePlate">
              <a:avLst/>
            </a:prstGeom>
            <a:solidFill>
              <a:srgbClr val="73277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Go</a:t>
              </a:r>
              <a:endParaRPr lang="en-GB" sz="800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B8BA362-9F50-C4E8-4CE1-C373A5C03137}"/>
              </a:ext>
            </a:extLst>
          </p:cNvPr>
          <p:cNvGrpSpPr/>
          <p:nvPr/>
        </p:nvGrpSpPr>
        <p:grpSpPr>
          <a:xfrm>
            <a:off x="369279" y="4580273"/>
            <a:ext cx="1406829" cy="1817098"/>
            <a:chOff x="280379" y="4510423"/>
            <a:chExt cx="1406829" cy="1817098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503C7290-3687-A196-7351-4DB6CC61D39D}"/>
                </a:ext>
              </a:extLst>
            </p:cNvPr>
            <p:cNvSpPr/>
            <p:nvPr/>
          </p:nvSpPr>
          <p:spPr>
            <a:xfrm>
              <a:off x="280379" y="4510423"/>
              <a:ext cx="1406829" cy="18170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sz="800" dirty="0">
                  <a:solidFill>
                    <a:schemeClr val="bg2">
                      <a:lumMod val="25000"/>
                    </a:schemeClr>
                  </a:solidFill>
                </a:rPr>
                <a:t>Define a custom geography and view statistics for your selected area</a:t>
              </a:r>
            </a:p>
            <a:p>
              <a:pPr algn="ctr"/>
              <a:endParaRPr lang="en-US" sz="800" dirty="0">
                <a:solidFill>
                  <a:schemeClr val="tx1"/>
                </a:solidFill>
              </a:endParaRPr>
            </a:p>
            <a:p>
              <a:pPr algn="ctr"/>
              <a:endParaRPr lang="en-GB" sz="800" dirty="0">
                <a:solidFill>
                  <a:schemeClr val="tx1"/>
                </a:solidFill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53063CB1-E252-EC4B-D4EC-1B475AFB57A5}"/>
                </a:ext>
              </a:extLst>
            </p:cNvPr>
            <p:cNvSpPr/>
            <p:nvPr/>
          </p:nvSpPr>
          <p:spPr>
            <a:xfrm>
              <a:off x="437142" y="4548560"/>
              <a:ext cx="1089679" cy="3225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rgbClr val="002060"/>
                  </a:solidFill>
                </a:rPr>
                <a:t>Custom area profile builder</a:t>
              </a:r>
              <a:endParaRPr lang="en-GB" sz="900" dirty="0">
                <a:solidFill>
                  <a:srgbClr val="002060"/>
                </a:solidFill>
              </a:endParaRPr>
            </a:p>
          </p:txBody>
        </p:sp>
        <p:pic>
          <p:nvPicPr>
            <p:cNvPr id="104" name="Graphic 103" descr="Marker with solid fill">
              <a:extLst>
                <a:ext uri="{FF2B5EF4-FFF2-40B4-BE49-F238E27FC236}">
                  <a16:creationId xmlns:a16="http://schemas.microsoft.com/office/drawing/2014/main" id="{C47E2E1D-EF3C-A0F8-6C84-4D8E146AC67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1079" y="4528728"/>
              <a:ext cx="296223" cy="296223"/>
            </a:xfrm>
            <a:prstGeom prst="rect">
              <a:avLst/>
            </a:prstGeom>
          </p:spPr>
        </p:pic>
        <p:pic>
          <p:nvPicPr>
            <p:cNvPr id="107" name="Picture 106">
              <a:extLst>
                <a:ext uri="{FF2B5EF4-FFF2-40B4-BE49-F238E27FC236}">
                  <a16:creationId xmlns:a16="http://schemas.microsoft.com/office/drawing/2014/main" id="{23C5053D-2BD7-9128-86E9-E6E8FF7A3F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7303" y="4882868"/>
              <a:ext cx="882194" cy="699781"/>
            </a:xfrm>
            <a:prstGeom prst="rect">
              <a:avLst/>
            </a:prstGeom>
          </p:spPr>
        </p:pic>
        <p:sp>
          <p:nvSpPr>
            <p:cNvPr id="19" name="Arrow: Pentagon 18">
              <a:extLst>
                <a:ext uri="{FF2B5EF4-FFF2-40B4-BE49-F238E27FC236}">
                  <a16:creationId xmlns:a16="http://schemas.microsoft.com/office/drawing/2014/main" id="{7C68821E-4272-C20B-C896-D5A3F5F75CD5}"/>
                </a:ext>
              </a:extLst>
            </p:cNvPr>
            <p:cNvSpPr/>
            <p:nvPr/>
          </p:nvSpPr>
          <p:spPr>
            <a:xfrm>
              <a:off x="1120495" y="6147322"/>
              <a:ext cx="419100" cy="151051"/>
            </a:xfrm>
            <a:prstGeom prst="homePlate">
              <a:avLst/>
            </a:prstGeom>
            <a:solidFill>
              <a:srgbClr val="73277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Go</a:t>
              </a:r>
              <a:endParaRPr lang="en-GB" sz="800" dirty="0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E0DDFF6-77CB-10A0-69C8-E7616100F7BB}"/>
              </a:ext>
            </a:extLst>
          </p:cNvPr>
          <p:cNvGrpSpPr/>
          <p:nvPr/>
        </p:nvGrpSpPr>
        <p:grpSpPr>
          <a:xfrm>
            <a:off x="392499" y="6642679"/>
            <a:ext cx="1414811" cy="1804845"/>
            <a:chOff x="303599" y="6572829"/>
            <a:chExt cx="1414811" cy="1804845"/>
          </a:xfrm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7198F8A9-8CC4-01D7-9AE9-5436FC4281C6}"/>
                </a:ext>
              </a:extLst>
            </p:cNvPr>
            <p:cNvSpPr/>
            <p:nvPr/>
          </p:nvSpPr>
          <p:spPr>
            <a:xfrm>
              <a:off x="304304" y="6572829"/>
              <a:ext cx="1414106" cy="18048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sz="800" dirty="0">
                  <a:solidFill>
                    <a:schemeClr val="bg2">
                      <a:lumMod val="25000"/>
                    </a:schemeClr>
                  </a:solidFill>
                </a:rPr>
                <a:t>Census data for councils, district electoral areas, and smaller statistical areas</a:t>
              </a:r>
            </a:p>
            <a:p>
              <a:pPr algn="ctr"/>
              <a:endParaRPr lang="en-US" sz="800" dirty="0">
                <a:solidFill>
                  <a:schemeClr val="tx1"/>
                </a:solidFill>
              </a:endParaRPr>
            </a:p>
            <a:p>
              <a:pPr algn="ctr"/>
              <a:endParaRPr lang="en-GB" sz="800" dirty="0">
                <a:solidFill>
                  <a:schemeClr val="tx1"/>
                </a:solidFill>
              </a:endParaRP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DADFF330-94BC-CA66-5BBD-D1DA366B44F2}"/>
                </a:ext>
              </a:extLst>
            </p:cNvPr>
            <p:cNvSpPr/>
            <p:nvPr/>
          </p:nvSpPr>
          <p:spPr>
            <a:xfrm>
              <a:off x="559556" y="6619023"/>
              <a:ext cx="903602" cy="3062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rgbClr val="00205B"/>
                  </a:solidFill>
                </a:rPr>
                <a:t>Census area explorer</a:t>
              </a:r>
              <a:endParaRPr lang="en-GB" sz="900" dirty="0">
                <a:solidFill>
                  <a:srgbClr val="00205B"/>
                </a:solidFill>
              </a:endParaRPr>
            </a:p>
          </p:txBody>
        </p:sp>
        <p:pic>
          <p:nvPicPr>
            <p:cNvPr id="132" name="Graphic 131" descr="Marker with solid fill">
              <a:extLst>
                <a:ext uri="{FF2B5EF4-FFF2-40B4-BE49-F238E27FC236}">
                  <a16:creationId xmlns:a16="http://schemas.microsoft.com/office/drawing/2014/main" id="{D9497D5A-97EF-EEB2-32F8-65996D1B9AB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3599" y="6582084"/>
              <a:ext cx="293703" cy="293703"/>
            </a:xfrm>
            <a:prstGeom prst="rect">
              <a:avLst/>
            </a:prstGeom>
          </p:spPr>
        </p:pic>
        <p:pic>
          <p:nvPicPr>
            <p:cNvPr id="135" name="Picture 134">
              <a:extLst>
                <a:ext uri="{FF2B5EF4-FFF2-40B4-BE49-F238E27FC236}">
                  <a16:creationId xmlns:a16="http://schemas.microsoft.com/office/drawing/2014/main" id="{C88BE6FB-23F0-9EE9-A5CC-91BF40C7C3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47753" y="6933047"/>
              <a:ext cx="868459" cy="696676"/>
            </a:xfrm>
            <a:prstGeom prst="rect">
              <a:avLst/>
            </a:prstGeom>
          </p:spPr>
        </p:pic>
        <p:sp>
          <p:nvSpPr>
            <p:cNvPr id="21" name="Arrow: Pentagon 20">
              <a:extLst>
                <a:ext uri="{FF2B5EF4-FFF2-40B4-BE49-F238E27FC236}">
                  <a16:creationId xmlns:a16="http://schemas.microsoft.com/office/drawing/2014/main" id="{131F31F1-91C6-BEFD-FF53-94534A9A1D93}"/>
                </a:ext>
              </a:extLst>
            </p:cNvPr>
            <p:cNvSpPr/>
            <p:nvPr/>
          </p:nvSpPr>
          <p:spPr>
            <a:xfrm>
              <a:off x="1182504" y="8159574"/>
              <a:ext cx="419100" cy="151051"/>
            </a:xfrm>
            <a:prstGeom prst="homePlate">
              <a:avLst/>
            </a:prstGeom>
            <a:solidFill>
              <a:srgbClr val="73277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Go</a:t>
              </a:r>
              <a:endParaRPr lang="en-GB" sz="800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D44D92C-8A49-B774-26D7-AB6A0CC89210}"/>
              </a:ext>
            </a:extLst>
          </p:cNvPr>
          <p:cNvGrpSpPr/>
          <p:nvPr/>
        </p:nvGrpSpPr>
        <p:grpSpPr>
          <a:xfrm>
            <a:off x="3474135" y="2612822"/>
            <a:ext cx="1422281" cy="1801382"/>
            <a:chOff x="3385235" y="2542972"/>
            <a:chExt cx="1422281" cy="1801382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130A6DF8-2231-5128-78A4-A60DBEC4ED15}"/>
                </a:ext>
              </a:extLst>
            </p:cNvPr>
            <p:cNvSpPr/>
            <p:nvPr/>
          </p:nvSpPr>
          <p:spPr>
            <a:xfrm>
              <a:off x="3385235" y="2542972"/>
              <a:ext cx="1422281" cy="18013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sz="800" dirty="0">
                  <a:solidFill>
                    <a:schemeClr val="bg2">
                      <a:lumMod val="25000"/>
                    </a:schemeClr>
                  </a:solidFill>
                </a:rPr>
                <a:t>Assess differences between equality groups for key statistics across NISRA</a:t>
              </a:r>
            </a:p>
            <a:p>
              <a:pPr algn="ctr"/>
              <a:endParaRPr lang="en-US" sz="800" dirty="0">
                <a:solidFill>
                  <a:schemeClr val="tx1"/>
                </a:solidFill>
              </a:endParaRPr>
            </a:p>
            <a:p>
              <a:pPr algn="ctr"/>
              <a:endParaRPr lang="en-GB" sz="800" dirty="0">
                <a:solidFill>
                  <a:schemeClr val="tx1"/>
                </a:solidFill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6A92D351-1E69-1D44-C74E-4908574B5A59}"/>
                </a:ext>
              </a:extLst>
            </p:cNvPr>
            <p:cNvSpPr/>
            <p:nvPr/>
          </p:nvSpPr>
          <p:spPr>
            <a:xfrm>
              <a:off x="3643525" y="2549557"/>
              <a:ext cx="1063017" cy="30455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rgbClr val="00205B"/>
                  </a:solidFill>
                </a:rPr>
                <a:t>Equality matters</a:t>
              </a:r>
              <a:endParaRPr lang="en-GB" sz="900" dirty="0">
                <a:solidFill>
                  <a:srgbClr val="00205B"/>
                </a:solidFill>
              </a:endParaRPr>
            </a:p>
          </p:txBody>
        </p:sp>
        <p:pic>
          <p:nvPicPr>
            <p:cNvPr id="100" name="Picture 99">
              <a:extLst>
                <a:ext uri="{FF2B5EF4-FFF2-40B4-BE49-F238E27FC236}">
                  <a16:creationId xmlns:a16="http://schemas.microsoft.com/office/drawing/2014/main" id="{15CDFAF6-1AC0-BA7E-A745-B50414A208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604969" y="2855658"/>
              <a:ext cx="900381" cy="703934"/>
            </a:xfrm>
            <a:prstGeom prst="rect">
              <a:avLst/>
            </a:prstGeom>
          </p:spPr>
        </p:pic>
        <p:sp>
          <p:nvSpPr>
            <p:cNvPr id="9" name="Arrow: Pentagon 8">
              <a:extLst>
                <a:ext uri="{FF2B5EF4-FFF2-40B4-BE49-F238E27FC236}">
                  <a16:creationId xmlns:a16="http://schemas.microsoft.com/office/drawing/2014/main" id="{92732B98-FD51-1E24-D572-6E14A666D455}"/>
                </a:ext>
              </a:extLst>
            </p:cNvPr>
            <p:cNvSpPr/>
            <p:nvPr/>
          </p:nvSpPr>
          <p:spPr>
            <a:xfrm>
              <a:off x="4339106" y="4152028"/>
              <a:ext cx="419100" cy="151051"/>
            </a:xfrm>
            <a:prstGeom prst="homePlate">
              <a:avLst/>
            </a:prstGeom>
            <a:solidFill>
              <a:srgbClr val="73277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Go</a:t>
              </a:r>
              <a:endParaRPr lang="en-GB" sz="800" dirty="0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45C4502-2D67-3233-9909-FE49221060C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3018" y="4153216"/>
              <a:ext cx="159162" cy="159162"/>
            </a:xfrm>
            <a:prstGeom prst="rect">
              <a:avLst/>
            </a:prstGeom>
          </p:spPr>
        </p:pic>
        <p:pic>
          <p:nvPicPr>
            <p:cNvPr id="15" name="Picture 1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01066431-5DF5-091A-9CCF-2089C54F96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22542" y="4173496"/>
              <a:ext cx="142283" cy="142283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18BD1284-BBC2-F038-1D33-41BF151AE87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51595" y="2589087"/>
              <a:ext cx="229606" cy="229606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08B3668-ADAD-E651-C4C5-AA15274875D4}"/>
              </a:ext>
            </a:extLst>
          </p:cNvPr>
          <p:cNvGrpSpPr/>
          <p:nvPr/>
        </p:nvGrpSpPr>
        <p:grpSpPr>
          <a:xfrm>
            <a:off x="1943830" y="2587594"/>
            <a:ext cx="1392785" cy="1826610"/>
            <a:chOff x="1854930" y="2517744"/>
            <a:chExt cx="1392785" cy="1826610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1A9F629-1DA0-B7FF-BFEE-5BB1D8E31D62}"/>
                </a:ext>
              </a:extLst>
            </p:cNvPr>
            <p:cNvSpPr/>
            <p:nvPr/>
          </p:nvSpPr>
          <p:spPr>
            <a:xfrm>
              <a:off x="1854930" y="2517744"/>
              <a:ext cx="1392785" cy="18266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sz="800" dirty="0">
                  <a:solidFill>
                    <a:schemeClr val="bg2">
                      <a:lumMod val="25000"/>
                    </a:schemeClr>
                  </a:solidFill>
                </a:rPr>
                <a:t>View progress towards key indicators of wellbeing as a society</a:t>
              </a:r>
            </a:p>
            <a:p>
              <a:pPr algn="ctr"/>
              <a:r>
                <a:rPr lang="en-US" sz="800" dirty="0">
                  <a:solidFill>
                    <a:schemeClr val="bg2">
                      <a:lumMod val="25000"/>
                    </a:schemeClr>
                  </a:solidFill>
                </a:rPr>
                <a:t> </a:t>
              </a:r>
              <a:endParaRPr lang="en-US" sz="800" dirty="0">
                <a:solidFill>
                  <a:schemeClr val="tx1"/>
                </a:solidFill>
              </a:endParaRPr>
            </a:p>
            <a:p>
              <a:pPr algn="ctr"/>
              <a:endParaRPr lang="en-GB" sz="800" dirty="0">
                <a:solidFill>
                  <a:schemeClr val="tx1"/>
                </a:solidFill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AE2606A5-9538-4107-6434-0D68D57FDC63}"/>
                </a:ext>
              </a:extLst>
            </p:cNvPr>
            <p:cNvSpPr/>
            <p:nvPr/>
          </p:nvSpPr>
          <p:spPr>
            <a:xfrm>
              <a:off x="2018863" y="2578753"/>
              <a:ext cx="1219765" cy="3458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rgbClr val="00205B"/>
                  </a:solidFill>
                </a:rPr>
                <a:t>Government wellbeing framework </a:t>
              </a:r>
              <a:endParaRPr lang="en-GB" sz="900" dirty="0">
                <a:solidFill>
                  <a:srgbClr val="00205B"/>
                </a:solidFill>
              </a:endParaRPr>
            </a:p>
          </p:txBody>
        </p:sp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34EC19CD-3C5F-2870-C85F-1F352F1642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2152695" y="2956092"/>
              <a:ext cx="740925" cy="545447"/>
            </a:xfrm>
            <a:prstGeom prst="rect">
              <a:avLst/>
            </a:prstGeom>
          </p:spPr>
        </p:pic>
        <p:sp>
          <p:nvSpPr>
            <p:cNvPr id="12" name="Arrow: Pentagon 11">
              <a:extLst>
                <a:ext uri="{FF2B5EF4-FFF2-40B4-BE49-F238E27FC236}">
                  <a16:creationId xmlns:a16="http://schemas.microsoft.com/office/drawing/2014/main" id="{EFA4233A-D84A-699C-1E6E-A4048FA267F6}"/>
                </a:ext>
              </a:extLst>
            </p:cNvPr>
            <p:cNvSpPr/>
            <p:nvPr/>
          </p:nvSpPr>
          <p:spPr>
            <a:xfrm>
              <a:off x="2698750" y="4146670"/>
              <a:ext cx="419100" cy="151051"/>
            </a:xfrm>
            <a:prstGeom prst="homePlate">
              <a:avLst/>
            </a:prstGeom>
            <a:solidFill>
              <a:srgbClr val="73277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Go</a:t>
              </a:r>
              <a:endParaRPr lang="en-GB" sz="800" dirty="0"/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5E59688D-B17D-B8D6-2F1F-D04A11529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4435" y="2565474"/>
              <a:ext cx="268260" cy="268260"/>
            </a:xfrm>
            <a:prstGeom prst="rect">
              <a:avLst/>
            </a:prstGeom>
          </p:spPr>
        </p:pic>
      </p:grpSp>
      <p:pic>
        <p:nvPicPr>
          <p:cNvPr id="44" name="Picture 43">
            <a:extLst>
              <a:ext uri="{FF2B5EF4-FFF2-40B4-BE49-F238E27FC236}">
                <a16:creationId xmlns:a16="http://schemas.microsoft.com/office/drawing/2014/main" id="{8348EE05-4B58-390C-E5A1-1855CB387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809" y="1538485"/>
            <a:ext cx="268260" cy="268260"/>
          </a:xfrm>
          <a:prstGeom prst="rect">
            <a:avLst/>
          </a:prstGeom>
        </p:spPr>
      </p:pic>
      <p:grpSp>
        <p:nvGrpSpPr>
          <p:cNvPr id="60" name="Group 59">
            <a:extLst>
              <a:ext uri="{FF2B5EF4-FFF2-40B4-BE49-F238E27FC236}">
                <a16:creationId xmlns:a16="http://schemas.microsoft.com/office/drawing/2014/main" id="{BF1BCF06-A0C8-1F49-76A5-30605075D124}"/>
              </a:ext>
            </a:extLst>
          </p:cNvPr>
          <p:cNvGrpSpPr/>
          <p:nvPr/>
        </p:nvGrpSpPr>
        <p:grpSpPr>
          <a:xfrm>
            <a:off x="1952848" y="6629640"/>
            <a:ext cx="1381031" cy="1817884"/>
            <a:chOff x="1863948" y="6559790"/>
            <a:chExt cx="1381031" cy="1817884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760A5FFD-8558-0FBF-FFE7-1B63AAFE2D8B}"/>
                </a:ext>
              </a:extLst>
            </p:cNvPr>
            <p:cNvSpPr/>
            <p:nvPr/>
          </p:nvSpPr>
          <p:spPr>
            <a:xfrm>
              <a:off x="1863948" y="6559790"/>
              <a:ext cx="1381031" cy="18178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sz="800" dirty="0">
                  <a:solidFill>
                    <a:schemeClr val="bg2">
                      <a:lumMod val="25000"/>
                    </a:schemeClr>
                  </a:solidFill>
                </a:rPr>
                <a:t>View indicators relating to social, economic and environmental change</a:t>
              </a:r>
            </a:p>
            <a:p>
              <a:pPr algn="ctr"/>
              <a:endParaRPr lang="en-US" sz="800" dirty="0">
                <a:solidFill>
                  <a:schemeClr val="tx1"/>
                </a:solidFill>
              </a:endParaRPr>
            </a:p>
            <a:p>
              <a:pPr algn="ctr"/>
              <a:endParaRPr lang="en-GB" sz="800" dirty="0">
                <a:solidFill>
                  <a:schemeClr val="tx1"/>
                </a:solidFill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F083F4F4-B048-36C9-B6BA-6C9157749B41}"/>
                </a:ext>
              </a:extLst>
            </p:cNvPr>
            <p:cNvSpPr/>
            <p:nvPr/>
          </p:nvSpPr>
          <p:spPr>
            <a:xfrm>
              <a:off x="2018565" y="6595163"/>
              <a:ext cx="1226414" cy="3103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rgbClr val="00205B"/>
                  </a:solidFill>
                </a:rPr>
                <a:t>Social, economic and environment indicators</a:t>
              </a:r>
              <a:endParaRPr lang="en-GB" sz="800" dirty="0">
                <a:solidFill>
                  <a:srgbClr val="00205B"/>
                </a:solidFill>
              </a:endParaRP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6E3F6233-B1C8-AD9C-C02A-6C03236C4102}"/>
                </a:ext>
              </a:extLst>
            </p:cNvPr>
            <p:cNvSpPr/>
            <p:nvPr/>
          </p:nvSpPr>
          <p:spPr>
            <a:xfrm>
              <a:off x="2111263" y="6905532"/>
              <a:ext cx="867546" cy="614663"/>
            </a:xfrm>
            <a:prstGeom prst="rect">
              <a:avLst/>
            </a:prstGeom>
            <a:noFill/>
            <a:ln w="3175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Arrow: Pentagon 19">
              <a:extLst>
                <a:ext uri="{FF2B5EF4-FFF2-40B4-BE49-F238E27FC236}">
                  <a16:creationId xmlns:a16="http://schemas.microsoft.com/office/drawing/2014/main" id="{946B689E-9917-F38D-30E9-A0CAAF93E707}"/>
                </a:ext>
              </a:extLst>
            </p:cNvPr>
            <p:cNvSpPr/>
            <p:nvPr/>
          </p:nvSpPr>
          <p:spPr>
            <a:xfrm>
              <a:off x="2760409" y="8159575"/>
              <a:ext cx="419100" cy="151051"/>
            </a:xfrm>
            <a:prstGeom prst="homePlate">
              <a:avLst/>
            </a:prstGeom>
            <a:solidFill>
              <a:srgbClr val="73277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Go</a:t>
              </a:r>
              <a:endParaRPr lang="en-GB" sz="800" dirty="0"/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A6485A7D-580C-2072-7A01-FA1EE5D9E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3039" y="6624530"/>
              <a:ext cx="238349" cy="238349"/>
            </a:xfrm>
            <a:prstGeom prst="rect">
              <a:avLst/>
            </a:prstGeom>
          </p:spPr>
        </p:pic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4A895CB9-9D86-0231-8DAB-5186170560C2}"/>
              </a:ext>
            </a:extLst>
          </p:cNvPr>
          <p:cNvSpPr txBox="1"/>
          <p:nvPr/>
        </p:nvSpPr>
        <p:spPr>
          <a:xfrm>
            <a:off x="339181" y="2096825"/>
            <a:ext cx="3041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Dive into the data using tools</a:t>
            </a:r>
            <a:endParaRPr lang="en-GB" dirty="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684ADB1-BAFF-F9CD-A610-8ADCBF04AD7F}"/>
              </a:ext>
            </a:extLst>
          </p:cNvPr>
          <p:cNvGrpSpPr/>
          <p:nvPr/>
        </p:nvGrpSpPr>
        <p:grpSpPr>
          <a:xfrm>
            <a:off x="5028195" y="2188778"/>
            <a:ext cx="1380199" cy="223488"/>
            <a:chOff x="4788298" y="2305118"/>
            <a:chExt cx="1380199" cy="223488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F8E4E0DC-B0F5-65EB-7020-B9B4448D48B0}"/>
                </a:ext>
              </a:extLst>
            </p:cNvPr>
            <p:cNvSpPr/>
            <p:nvPr/>
          </p:nvSpPr>
          <p:spPr>
            <a:xfrm>
              <a:off x="5957138" y="2305118"/>
              <a:ext cx="211359" cy="223488"/>
            </a:xfrm>
            <a:prstGeom prst="rect">
              <a:avLst/>
            </a:prstGeom>
            <a:solidFill>
              <a:srgbClr val="732777"/>
            </a:solidFill>
            <a:ln>
              <a:solidFill>
                <a:srgbClr val="73277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algn="ctr"/>
              <a:endParaRPr lang="en-GB" sz="2400" dirty="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FAB00B40-78B8-A033-EF96-E145D5BE2197}"/>
                </a:ext>
              </a:extLst>
            </p:cNvPr>
            <p:cNvSpPr/>
            <p:nvPr/>
          </p:nvSpPr>
          <p:spPr>
            <a:xfrm>
              <a:off x="4788298" y="2317247"/>
              <a:ext cx="1168840" cy="21135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73277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>
                  <a:solidFill>
                    <a:schemeClr val="bg2">
                      <a:lumMod val="25000"/>
                    </a:schemeClr>
                  </a:solidFill>
                </a:rPr>
                <a:t>Search by keyword</a:t>
              </a:r>
              <a:endParaRPr lang="en-GB" sz="8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5FF6E426-4D94-95A3-6317-4FAFA4A24F1D}"/>
              </a:ext>
            </a:extLst>
          </p:cNvPr>
          <p:cNvGrpSpPr/>
          <p:nvPr/>
        </p:nvGrpSpPr>
        <p:grpSpPr>
          <a:xfrm>
            <a:off x="471075" y="9366829"/>
            <a:ext cx="1414811" cy="1804845"/>
            <a:chOff x="303599" y="6572829"/>
            <a:chExt cx="1414811" cy="1804845"/>
          </a:xfrm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04425F4E-52D0-8D3F-45B6-B6762768E748}"/>
                </a:ext>
              </a:extLst>
            </p:cNvPr>
            <p:cNvSpPr/>
            <p:nvPr/>
          </p:nvSpPr>
          <p:spPr>
            <a:xfrm>
              <a:off x="304304" y="6572829"/>
              <a:ext cx="1414106" cy="18048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sz="800" dirty="0">
                  <a:solidFill>
                    <a:schemeClr val="bg2">
                      <a:lumMod val="25000"/>
                    </a:schemeClr>
                  </a:solidFill>
                </a:rPr>
                <a:t>Overview of purpose</a:t>
              </a:r>
            </a:p>
            <a:p>
              <a:pPr algn="ctr"/>
              <a:endParaRPr lang="en-US" sz="800" dirty="0">
                <a:solidFill>
                  <a:schemeClr val="tx1"/>
                </a:solidFill>
              </a:endParaRPr>
            </a:p>
            <a:p>
              <a:pPr algn="ctr"/>
              <a:endParaRPr lang="en-GB" sz="800" dirty="0">
                <a:solidFill>
                  <a:schemeClr val="tx1"/>
                </a:solidFill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7E3D41A0-F226-56DE-0565-358FA7D8AA16}"/>
                </a:ext>
              </a:extLst>
            </p:cNvPr>
            <p:cNvSpPr/>
            <p:nvPr/>
          </p:nvSpPr>
          <p:spPr>
            <a:xfrm>
              <a:off x="477861" y="7011754"/>
              <a:ext cx="903602" cy="3062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rgbClr val="00205B"/>
                  </a:solidFill>
                </a:rPr>
                <a:t>Dashboard name</a:t>
              </a:r>
              <a:endParaRPr lang="en-GB" sz="900" dirty="0">
                <a:solidFill>
                  <a:srgbClr val="00205B"/>
                </a:solidFill>
              </a:endParaRPr>
            </a:p>
          </p:txBody>
        </p:sp>
        <p:pic>
          <p:nvPicPr>
            <p:cNvPr id="126" name="Graphic 125" descr="Marker with solid fill">
              <a:extLst>
                <a:ext uri="{FF2B5EF4-FFF2-40B4-BE49-F238E27FC236}">
                  <a16:creationId xmlns:a16="http://schemas.microsoft.com/office/drawing/2014/main" id="{39E91EB5-09ED-EC5F-DFA3-9D304319604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3599" y="6582084"/>
              <a:ext cx="293703" cy="293703"/>
            </a:xfrm>
            <a:prstGeom prst="rect">
              <a:avLst/>
            </a:prstGeom>
          </p:spPr>
        </p:pic>
        <p:sp>
          <p:nvSpPr>
            <p:cNvPr id="134" name="Arrow: Pentagon 133">
              <a:extLst>
                <a:ext uri="{FF2B5EF4-FFF2-40B4-BE49-F238E27FC236}">
                  <a16:creationId xmlns:a16="http://schemas.microsoft.com/office/drawing/2014/main" id="{7DDB32D8-76D9-C8EA-A276-BC7AC047564B}"/>
                </a:ext>
              </a:extLst>
            </p:cNvPr>
            <p:cNvSpPr/>
            <p:nvPr/>
          </p:nvSpPr>
          <p:spPr>
            <a:xfrm>
              <a:off x="1182504" y="8159574"/>
              <a:ext cx="419100" cy="151051"/>
            </a:xfrm>
            <a:prstGeom prst="homePlate">
              <a:avLst/>
            </a:prstGeom>
            <a:solidFill>
              <a:srgbClr val="73277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Go</a:t>
              </a:r>
              <a:endParaRPr lang="en-GB" sz="800" dirty="0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437082F8-F65C-28F5-1B65-06554B1DB6B7}"/>
              </a:ext>
            </a:extLst>
          </p:cNvPr>
          <p:cNvSpPr/>
          <p:nvPr/>
        </p:nvSpPr>
        <p:spPr>
          <a:xfrm>
            <a:off x="263174" y="8623300"/>
            <a:ext cx="6150145" cy="62068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7759C127-6885-B40D-11C0-1E0C36ACC74D}"/>
              </a:ext>
            </a:extLst>
          </p:cNvPr>
          <p:cNvSpPr txBox="1"/>
          <p:nvPr/>
        </p:nvSpPr>
        <p:spPr>
          <a:xfrm>
            <a:off x="756228" y="8748977"/>
            <a:ext cx="2657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People and communities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8BD169-4538-73FB-98B0-E8AF3E9C1BE3}"/>
              </a:ext>
            </a:extLst>
          </p:cNvPr>
          <p:cNvSpPr/>
          <p:nvPr/>
        </p:nvSpPr>
        <p:spPr>
          <a:xfrm>
            <a:off x="263174" y="11427460"/>
            <a:ext cx="6150145" cy="62068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DD889F-4D25-2579-4506-DDA0CFF672B1}"/>
              </a:ext>
            </a:extLst>
          </p:cNvPr>
          <p:cNvSpPr txBox="1"/>
          <p:nvPr/>
        </p:nvSpPr>
        <p:spPr>
          <a:xfrm>
            <a:off x="756228" y="11553137"/>
            <a:ext cx="2411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Health and social care</a:t>
            </a:r>
            <a:endParaRPr lang="en-GB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EDC6E32-1EBF-D81F-45B0-F55D27DF768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126" y="8673050"/>
            <a:ext cx="521186" cy="52118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49FB2EA-DEB3-6D01-E0B5-FAA0553DC8F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579588" y="11553137"/>
            <a:ext cx="521186" cy="52118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EBBD1A2-87AF-92D6-2F67-9FA52809201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946" y="8748977"/>
            <a:ext cx="417120" cy="41712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C99864B-22B6-8424-86CB-A7A8D8991E4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934" y="11556409"/>
            <a:ext cx="403132" cy="403132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ADA41D62-03F2-2E79-91EE-6561E07C2FC1}"/>
              </a:ext>
            </a:extLst>
          </p:cNvPr>
          <p:cNvGrpSpPr/>
          <p:nvPr/>
        </p:nvGrpSpPr>
        <p:grpSpPr>
          <a:xfrm>
            <a:off x="2414580" y="9388113"/>
            <a:ext cx="1414811" cy="1804845"/>
            <a:chOff x="303599" y="6572829"/>
            <a:chExt cx="1414811" cy="1804845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7785E83-E9FE-4CAE-3788-E394B35325E8}"/>
                </a:ext>
              </a:extLst>
            </p:cNvPr>
            <p:cNvSpPr/>
            <p:nvPr/>
          </p:nvSpPr>
          <p:spPr>
            <a:xfrm>
              <a:off x="304304" y="6572829"/>
              <a:ext cx="1414106" cy="18048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sz="800" dirty="0">
                  <a:solidFill>
                    <a:schemeClr val="bg2">
                      <a:lumMod val="25000"/>
                    </a:schemeClr>
                  </a:solidFill>
                </a:rPr>
                <a:t>Overview of purpose</a:t>
              </a:r>
            </a:p>
            <a:p>
              <a:pPr algn="ctr"/>
              <a:endParaRPr lang="en-US" sz="800" dirty="0">
                <a:solidFill>
                  <a:schemeClr val="tx1"/>
                </a:solidFill>
              </a:endParaRPr>
            </a:p>
            <a:p>
              <a:pPr algn="ctr"/>
              <a:endParaRPr lang="en-GB" sz="800" dirty="0">
                <a:solidFill>
                  <a:schemeClr val="tx1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55AD7A7-C4E7-97A3-3F56-160A44CFB865}"/>
                </a:ext>
              </a:extLst>
            </p:cNvPr>
            <p:cNvSpPr/>
            <p:nvPr/>
          </p:nvSpPr>
          <p:spPr>
            <a:xfrm>
              <a:off x="477861" y="7011754"/>
              <a:ext cx="903602" cy="3062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rgbClr val="00205B"/>
                  </a:solidFill>
                </a:rPr>
                <a:t>Dashboard name</a:t>
              </a:r>
              <a:endParaRPr lang="en-GB" sz="900" dirty="0">
                <a:solidFill>
                  <a:srgbClr val="00205B"/>
                </a:solidFill>
              </a:endParaRPr>
            </a:p>
          </p:txBody>
        </p:sp>
        <p:pic>
          <p:nvPicPr>
            <p:cNvPr id="36" name="Graphic 35" descr="Marker with solid fill">
              <a:extLst>
                <a:ext uri="{FF2B5EF4-FFF2-40B4-BE49-F238E27FC236}">
                  <a16:creationId xmlns:a16="http://schemas.microsoft.com/office/drawing/2014/main" id="{3B1D5BE7-93E8-51EE-78B0-63DF14713A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3599" y="6582084"/>
              <a:ext cx="293703" cy="293703"/>
            </a:xfrm>
            <a:prstGeom prst="rect">
              <a:avLst/>
            </a:prstGeom>
          </p:spPr>
        </p:pic>
        <p:sp>
          <p:nvSpPr>
            <p:cNvPr id="38" name="Arrow: Pentagon 37">
              <a:extLst>
                <a:ext uri="{FF2B5EF4-FFF2-40B4-BE49-F238E27FC236}">
                  <a16:creationId xmlns:a16="http://schemas.microsoft.com/office/drawing/2014/main" id="{9EC56A9F-451A-1D63-8A52-A1025460A50C}"/>
                </a:ext>
              </a:extLst>
            </p:cNvPr>
            <p:cNvSpPr/>
            <p:nvPr/>
          </p:nvSpPr>
          <p:spPr>
            <a:xfrm>
              <a:off x="1182504" y="8159574"/>
              <a:ext cx="419100" cy="151051"/>
            </a:xfrm>
            <a:prstGeom prst="homePlate">
              <a:avLst/>
            </a:prstGeom>
            <a:solidFill>
              <a:srgbClr val="73277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Go</a:t>
              </a:r>
              <a:endParaRPr lang="en-GB" sz="800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9DD1788-0AE9-1CC6-60F2-E8EC7733DAA4}"/>
              </a:ext>
            </a:extLst>
          </p:cNvPr>
          <p:cNvGrpSpPr/>
          <p:nvPr/>
        </p:nvGrpSpPr>
        <p:grpSpPr>
          <a:xfrm>
            <a:off x="4425370" y="9388113"/>
            <a:ext cx="1414811" cy="1804845"/>
            <a:chOff x="303599" y="6572829"/>
            <a:chExt cx="1414811" cy="1804845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63BD6C4-608C-512D-4127-798BB4B88BAB}"/>
                </a:ext>
              </a:extLst>
            </p:cNvPr>
            <p:cNvSpPr/>
            <p:nvPr/>
          </p:nvSpPr>
          <p:spPr>
            <a:xfrm>
              <a:off x="304304" y="6572829"/>
              <a:ext cx="1414106" cy="18048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sz="800" dirty="0">
                  <a:solidFill>
                    <a:schemeClr val="bg2">
                      <a:lumMod val="25000"/>
                    </a:schemeClr>
                  </a:solidFill>
                </a:rPr>
                <a:t>Overview of purpose</a:t>
              </a:r>
            </a:p>
            <a:p>
              <a:pPr algn="ctr"/>
              <a:endParaRPr lang="en-US" sz="800" dirty="0">
                <a:solidFill>
                  <a:schemeClr val="tx1"/>
                </a:solidFill>
              </a:endParaRPr>
            </a:p>
            <a:p>
              <a:pPr algn="ctr"/>
              <a:endParaRPr lang="en-GB" sz="800" dirty="0">
                <a:solidFill>
                  <a:schemeClr val="tx1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EA81137-1AE6-A29C-0D1C-E094B6216F00}"/>
                </a:ext>
              </a:extLst>
            </p:cNvPr>
            <p:cNvSpPr/>
            <p:nvPr/>
          </p:nvSpPr>
          <p:spPr>
            <a:xfrm>
              <a:off x="477861" y="7011754"/>
              <a:ext cx="903602" cy="3062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rgbClr val="00205B"/>
                  </a:solidFill>
                </a:rPr>
                <a:t>Dashboard name</a:t>
              </a:r>
              <a:endParaRPr lang="en-GB" sz="900" dirty="0">
                <a:solidFill>
                  <a:srgbClr val="00205B"/>
                </a:solidFill>
              </a:endParaRPr>
            </a:p>
          </p:txBody>
        </p:sp>
        <p:pic>
          <p:nvPicPr>
            <p:cNvPr id="58" name="Graphic 57" descr="Marker with solid fill">
              <a:extLst>
                <a:ext uri="{FF2B5EF4-FFF2-40B4-BE49-F238E27FC236}">
                  <a16:creationId xmlns:a16="http://schemas.microsoft.com/office/drawing/2014/main" id="{9E73817D-4812-D478-7101-8B4289D8F6F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03599" y="6582084"/>
              <a:ext cx="293703" cy="293703"/>
            </a:xfrm>
            <a:prstGeom prst="rect">
              <a:avLst/>
            </a:prstGeom>
          </p:spPr>
        </p:pic>
        <p:sp>
          <p:nvSpPr>
            <p:cNvPr id="61" name="Arrow: Pentagon 60">
              <a:extLst>
                <a:ext uri="{FF2B5EF4-FFF2-40B4-BE49-F238E27FC236}">
                  <a16:creationId xmlns:a16="http://schemas.microsoft.com/office/drawing/2014/main" id="{DBB871AD-EC27-962B-F7C1-B316DD97FB13}"/>
                </a:ext>
              </a:extLst>
            </p:cNvPr>
            <p:cNvSpPr/>
            <p:nvPr/>
          </p:nvSpPr>
          <p:spPr>
            <a:xfrm>
              <a:off x="1182504" y="8159574"/>
              <a:ext cx="419100" cy="151051"/>
            </a:xfrm>
            <a:prstGeom prst="homePlate">
              <a:avLst/>
            </a:prstGeom>
            <a:solidFill>
              <a:srgbClr val="73277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Go</a:t>
              </a:r>
              <a:endParaRPr lang="en-GB" sz="800" dirty="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3927A64-D5CA-2296-FFF9-8E2DF3F4C8F2}"/>
              </a:ext>
            </a:extLst>
          </p:cNvPr>
          <p:cNvGrpSpPr/>
          <p:nvPr/>
        </p:nvGrpSpPr>
        <p:grpSpPr>
          <a:xfrm>
            <a:off x="3494378" y="6640599"/>
            <a:ext cx="1394254" cy="1807545"/>
            <a:chOff x="5010019" y="6518444"/>
            <a:chExt cx="1394254" cy="1807545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8C6ACA4-A3CE-7FB9-F485-567EF8408F74}"/>
                </a:ext>
              </a:extLst>
            </p:cNvPr>
            <p:cNvGrpSpPr/>
            <p:nvPr/>
          </p:nvGrpSpPr>
          <p:grpSpPr>
            <a:xfrm>
              <a:off x="5010019" y="6518444"/>
              <a:ext cx="1394254" cy="1807545"/>
              <a:chOff x="4921119" y="4490198"/>
              <a:chExt cx="1394254" cy="1807545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9AD8506-A364-5AA0-605B-6732E5DD49FE}"/>
                  </a:ext>
                </a:extLst>
              </p:cNvPr>
              <p:cNvSpPr/>
              <p:nvPr/>
            </p:nvSpPr>
            <p:spPr>
              <a:xfrm>
                <a:off x="4921119" y="4490198"/>
                <a:ext cx="1394254" cy="180754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:r>
                  <a:rPr lang="en-US" sz="800" dirty="0">
                    <a:solidFill>
                      <a:schemeClr val="bg2">
                        <a:lumMod val="25000"/>
                      </a:schemeClr>
                    </a:solidFill>
                  </a:rPr>
                  <a:t>Access data by theme, year and geography. Download CSV, excel, JSON or API.</a:t>
                </a:r>
              </a:p>
              <a:p>
                <a:pPr algn="ctr"/>
                <a:endParaRPr lang="en-US" sz="800" dirty="0">
                  <a:solidFill>
                    <a:schemeClr val="tx1"/>
                  </a:solidFill>
                </a:endParaRPr>
              </a:p>
              <a:p>
                <a:pPr algn="ctr"/>
                <a:endParaRPr lang="en-GB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2C552B63-5F0E-23F2-4205-F979C87C658A}"/>
                  </a:ext>
                </a:extLst>
              </p:cNvPr>
              <p:cNvSpPr/>
              <p:nvPr/>
            </p:nvSpPr>
            <p:spPr>
              <a:xfrm>
                <a:off x="5072679" y="4559420"/>
                <a:ext cx="1168666" cy="30658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>
                    <a:solidFill>
                      <a:srgbClr val="00205B"/>
                    </a:solidFill>
                  </a:rPr>
                  <a:t>Data portal</a:t>
                </a:r>
                <a:endParaRPr lang="en-GB" sz="900" dirty="0">
                  <a:solidFill>
                    <a:srgbClr val="00205B"/>
                  </a:solidFill>
                </a:endParaRPr>
              </a:p>
            </p:txBody>
          </p:sp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927BD2EF-2F71-448A-8923-7579DE1DA9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01792" y="4596186"/>
                <a:ext cx="179014" cy="179014"/>
              </a:xfrm>
              <a:prstGeom prst="rect">
                <a:avLst/>
              </a:prstGeom>
            </p:spPr>
          </p:pic>
          <p:sp>
            <p:nvSpPr>
              <p:cNvPr id="62" name="Arrow: Pentagon 61">
                <a:extLst>
                  <a:ext uri="{FF2B5EF4-FFF2-40B4-BE49-F238E27FC236}">
                    <a16:creationId xmlns:a16="http://schemas.microsoft.com/office/drawing/2014/main" id="{2AD2EDA9-0621-1EAB-73CA-CC919BD8541F}"/>
                  </a:ext>
                </a:extLst>
              </p:cNvPr>
              <p:cNvSpPr/>
              <p:nvPr/>
            </p:nvSpPr>
            <p:spPr>
              <a:xfrm>
                <a:off x="5822244" y="6126697"/>
                <a:ext cx="419100" cy="151051"/>
              </a:xfrm>
              <a:prstGeom prst="homePlate">
                <a:avLst/>
              </a:prstGeom>
              <a:solidFill>
                <a:srgbClr val="73277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800" dirty="0"/>
                  <a:t>Go</a:t>
                </a:r>
                <a:endParaRPr lang="en-GB" sz="800" dirty="0"/>
              </a:p>
            </p:txBody>
          </p:sp>
        </p:grp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0AA1A048-F1F2-F399-E4A0-E88087BD05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5105168" y="6947973"/>
              <a:ext cx="1172198" cy="613402"/>
            </a:xfrm>
            <a:prstGeom prst="rect">
              <a:avLst/>
            </a:prstGeom>
          </p:spPr>
        </p:pic>
      </p:grpSp>
      <p:pic>
        <p:nvPicPr>
          <p:cNvPr id="68" name="Graphic 67" descr="Magnifying glass outline">
            <a:extLst>
              <a:ext uri="{FF2B5EF4-FFF2-40B4-BE49-F238E27FC236}">
                <a16:creationId xmlns:a16="http://schemas.microsoft.com/office/drawing/2014/main" id="{E6AC2FF9-F68A-3DAE-192D-E95E9BCC1AF7}"/>
              </a:ext>
            </a:extLst>
          </p:cNvPr>
          <p:cNvPicPr>
            <a:picLocks noChangeAspect="1"/>
          </p:cNvPicPr>
          <p:nvPr/>
        </p:nvPicPr>
        <p:blipFill>
          <a:blip>
            <a:lum bright="70000" contrast="-70000"/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201960" y="2207913"/>
            <a:ext cx="215014" cy="215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649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2092</TotalTime>
  <Words>253</Words>
  <Application>Microsoft Office PowerPoint</Application>
  <PresentationFormat>Widescreen</PresentationFormat>
  <Paragraphs>57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Máire Brolly</dc:creator>
  <cp:lastModifiedBy>Scott, Judith</cp:lastModifiedBy>
  <cp:revision>103</cp:revision>
  <dcterms:created xsi:type="dcterms:W3CDTF">2025-03-07T13:49:35Z</dcterms:created>
  <dcterms:modified xsi:type="dcterms:W3CDTF">2026-08-07T09:19:06Z</dcterms:modified>
</cp:coreProperties>
</file>